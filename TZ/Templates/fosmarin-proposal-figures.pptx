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2" r:id="rId2"/>
    <p:sldId id="270" r:id="rId3"/>
    <p:sldId id="274" r:id="rId4"/>
    <p:sldId id="277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CC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D1397-F4EC-4E60-8319-553262CA831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9A2E-9CD7-4822-AED6-1C58F2F9B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97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0D14-B453-CD94-798F-0A0E7DC30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AB262-D39A-1C72-E492-13DB17EB2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7D551-DC9D-5B93-5FD9-F03BBEC29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EBBC-AE59-4454-8E31-974E902A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00797-3268-5954-547D-253F5666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1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0A6B3-8FF6-E49D-0C47-032D5361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2F06-60B4-CB8B-478C-ECE78B06F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DE894-BF0E-F7F0-2139-730F5165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4F6C8-3044-06D8-22F4-F257FD69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9C241-8C0B-08BE-A261-4FC35A52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6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4068-70CE-1884-47FD-572D4E7C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0DD10-E9C0-E0C5-B4C4-F2D52426E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62C65-2D1B-6EE6-9FF9-F064B319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9D112-ABBA-1BB4-D283-9BD08E37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4C587-5CCD-17C1-5FE0-5F44AF99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7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04DE-C1D5-EA98-5DD5-99C5FBFDA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D35A9-B55B-711A-6883-DF71E661D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F546D-C9F9-AFAE-FB18-EFF4FCB2B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9DC73-758E-138D-3FE2-B02049970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08B92-EB59-13FD-7933-168DCAD2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1A217-F9B0-3633-1250-2421AE3C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4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0CDA-5FF8-80BE-18AB-7B7D24E8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FAEC8-323A-698B-E667-A0961C695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C19A4-B05D-1509-836F-4A0B90BC7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1F6B2-197C-B043-09D1-F9E17B7E2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6036BF-08DB-2E5C-1185-727D64018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36494-CECA-D5B4-A420-772942A20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E6CBA4-62E6-BB5A-BCC3-6D3B6F15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7F3E3-0EAF-E4A9-93BD-76FCF1DC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8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967E-845F-0BDE-74BC-5AFD1B34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A615CA-8290-C0F2-5034-C8B12645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33ABB-563F-AB32-8E9A-03F62D48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AB679-2849-D4D5-3D15-4D335202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6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EC3B3-516F-3F76-0FD7-AFAE8C4E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83C42-DECD-6882-10AA-49EF0C30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E52B4-6025-BE72-43D3-39504906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9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43E4-0D8F-7FB0-1CDE-49DDF6EF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AABA-2FF5-EB20-45F3-4227DCCB8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20A24-08B4-F11D-C2F3-97D930ABD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8C793-FF8F-DA75-A6D1-3A4D5BC5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A2D47-C6F5-3296-92B0-28D4F88F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C618B-8B04-55ED-8944-C6243EFC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2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C8A4-6D82-5F69-C445-CDC9035DE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4AF78-366D-01A9-0FBE-63BDCB3B9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9F9CB-7D61-6937-5B79-8E67CD9B3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5025B-E3D2-435B-DEFD-A6236138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9DF31-88D5-E9C5-28D8-6471392F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9AF61-B4BB-ADDE-73F7-CF169CC2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0F4B-9EE6-B815-E430-F138C43E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3BD58-CCB2-D78F-2DD1-AF515846B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EBFF9-D387-0219-35B0-3F9450A4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350F4-1DEA-96D2-29BD-DA509CF8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B1A95-1302-2849-6A59-8CEC4AE3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5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2EF8E-B6D3-5DB2-B800-C857BE670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BD6F5-C273-4BB2-9F9E-E34EE86D9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6C63-055E-442C-935B-2283CA85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6B982-7F32-A78B-939C-917233F4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26351-3C8E-F513-FF47-2641F06A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5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8C7E4-5783-90E9-5411-39D536C89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F9957-B548-6571-8971-C64FD7198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E1A92-CCBD-225B-A938-78C5FD481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6B110-A6B8-4C75-AA68-6FEF9291A41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EC57-A9DA-0B96-2885-E8845D4A6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76731-E13E-E5DF-C8CB-EF58B9875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D757A-B864-43CD-A84C-1C0295E7B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27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26" Type="http://schemas.openxmlformats.org/officeDocument/2006/relationships/image" Target="../media/image31.svg"/><Relationship Id="rId39" Type="http://schemas.openxmlformats.org/officeDocument/2006/relationships/image" Target="../media/image6.png"/><Relationship Id="rId3" Type="http://schemas.openxmlformats.org/officeDocument/2006/relationships/image" Target="../media/image10.png"/><Relationship Id="rId21" Type="http://schemas.openxmlformats.org/officeDocument/2006/relationships/image" Target="../media/image3.png"/><Relationship Id="rId34" Type="http://schemas.openxmlformats.org/officeDocument/2006/relationships/image" Target="../media/image37.svg"/><Relationship Id="rId42" Type="http://schemas.openxmlformats.org/officeDocument/2006/relationships/image" Target="../media/image42.svg"/><Relationship Id="rId47" Type="http://schemas.openxmlformats.org/officeDocument/2006/relationships/image" Target="../media/image47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image" Target="../media/image24.png"/><Relationship Id="rId25" Type="http://schemas.openxmlformats.org/officeDocument/2006/relationships/image" Target="../media/image30.png"/><Relationship Id="rId33" Type="http://schemas.openxmlformats.org/officeDocument/2006/relationships/image" Target="../media/image36.png"/><Relationship Id="rId38" Type="http://schemas.openxmlformats.org/officeDocument/2006/relationships/image" Target="../media/image1.png"/><Relationship Id="rId46" Type="http://schemas.openxmlformats.org/officeDocument/2006/relationships/image" Target="../media/image46.svg"/><Relationship Id="rId2" Type="http://schemas.openxmlformats.org/officeDocument/2006/relationships/image" Target="../media/image9.png"/><Relationship Id="rId16" Type="http://schemas.openxmlformats.org/officeDocument/2006/relationships/image" Target="../media/image23.svg"/><Relationship Id="rId20" Type="http://schemas.openxmlformats.org/officeDocument/2006/relationships/image" Target="../media/image27.svg"/><Relationship Id="rId29" Type="http://schemas.openxmlformats.org/officeDocument/2006/relationships/image" Target="../media/image32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24" Type="http://schemas.openxmlformats.org/officeDocument/2006/relationships/image" Target="../media/image29.svg"/><Relationship Id="rId32" Type="http://schemas.openxmlformats.org/officeDocument/2006/relationships/image" Target="../media/image35.svg"/><Relationship Id="rId37" Type="http://schemas.openxmlformats.org/officeDocument/2006/relationships/image" Target="../media/image40.jpg"/><Relationship Id="rId40" Type="http://schemas.openxmlformats.org/officeDocument/2006/relationships/image" Target="../media/image7.png"/><Relationship Id="rId45" Type="http://schemas.openxmlformats.org/officeDocument/2006/relationships/image" Target="../media/image45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28.png"/><Relationship Id="rId28" Type="http://schemas.openxmlformats.org/officeDocument/2006/relationships/image" Target="../media/image2.jpeg"/><Relationship Id="rId36" Type="http://schemas.openxmlformats.org/officeDocument/2006/relationships/image" Target="../media/image39.svg"/><Relationship Id="rId49" Type="http://schemas.openxmlformats.org/officeDocument/2006/relationships/image" Target="../media/image49.png"/><Relationship Id="rId10" Type="http://schemas.openxmlformats.org/officeDocument/2006/relationships/image" Target="../media/image17.svg"/><Relationship Id="rId19" Type="http://schemas.openxmlformats.org/officeDocument/2006/relationships/image" Target="../media/image26.png"/><Relationship Id="rId31" Type="http://schemas.openxmlformats.org/officeDocument/2006/relationships/image" Target="../media/image34.png"/><Relationship Id="rId44" Type="http://schemas.openxmlformats.org/officeDocument/2006/relationships/image" Target="../media/image44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Relationship Id="rId22" Type="http://schemas.openxmlformats.org/officeDocument/2006/relationships/image" Target="../media/image4.jpg"/><Relationship Id="rId27" Type="http://schemas.openxmlformats.org/officeDocument/2006/relationships/image" Target="../media/image5.png"/><Relationship Id="rId30" Type="http://schemas.openxmlformats.org/officeDocument/2006/relationships/image" Target="../media/image33.svg"/><Relationship Id="rId35" Type="http://schemas.openxmlformats.org/officeDocument/2006/relationships/image" Target="../media/image38.png"/><Relationship Id="rId43" Type="http://schemas.openxmlformats.org/officeDocument/2006/relationships/image" Target="../media/image43.png"/><Relationship Id="rId48" Type="http://schemas.openxmlformats.org/officeDocument/2006/relationships/image" Target="../media/image48.svg"/><Relationship Id="rId8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Logo_ PLOCAN_ 250x130 - APPA Renovables">
            <a:extLst>
              <a:ext uri="{FF2B5EF4-FFF2-40B4-BE49-F238E27FC236}">
                <a16:creationId xmlns:a16="http://schemas.microsoft.com/office/drawing/2014/main" id="{0E180E93-58B7-E43D-37D3-4BE79E392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8909" y="2328577"/>
            <a:ext cx="2381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8FAA141-BB8C-58E1-3970-6BB3EFDDCC8C}"/>
              </a:ext>
            </a:extLst>
          </p:cNvPr>
          <p:cNvGrpSpPr/>
          <p:nvPr/>
        </p:nvGrpSpPr>
        <p:grpSpPr>
          <a:xfrm>
            <a:off x="1284741" y="3230010"/>
            <a:ext cx="2160000" cy="900000"/>
            <a:chOff x="191357" y="3098695"/>
            <a:chExt cx="2160000" cy="900000"/>
          </a:xfrm>
        </p:grpSpPr>
        <p:sp>
          <p:nvSpPr>
            <p:cNvPr id="1024" name="Rectangle: Rounded Corners 1023">
              <a:extLst>
                <a:ext uri="{FF2B5EF4-FFF2-40B4-BE49-F238E27FC236}">
                  <a16:creationId xmlns:a16="http://schemas.microsoft.com/office/drawing/2014/main" id="{E3F947B3-6353-EE4A-BAFC-97AF8B372340}"/>
                </a:ext>
              </a:extLst>
            </p:cNvPr>
            <p:cNvSpPr/>
            <p:nvPr/>
          </p:nvSpPr>
          <p:spPr>
            <a:xfrm>
              <a:off x="191357" y="3098695"/>
              <a:ext cx="2160000" cy="900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6" descr="Ähnliches Foto">
              <a:extLst>
                <a:ext uri="{FF2B5EF4-FFF2-40B4-BE49-F238E27FC236}">
                  <a16:creationId xmlns:a16="http://schemas.microsoft.com/office/drawing/2014/main" id="{8099F253-63D9-9A4D-EF9B-16416B5CA6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23" y="3209625"/>
              <a:ext cx="1697512" cy="4387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feld 2">
              <a:extLst>
                <a:ext uri="{FF2B5EF4-FFF2-40B4-BE49-F238E27FC236}">
                  <a16:creationId xmlns:a16="http://schemas.microsoft.com/office/drawing/2014/main" id="{1E8D04C6-C754-6095-41EC-1C9707310D59}"/>
                </a:ext>
              </a:extLst>
            </p:cNvPr>
            <p:cNvSpPr txBox="1"/>
            <p:nvPr/>
          </p:nvSpPr>
          <p:spPr>
            <a:xfrm>
              <a:off x="531518" y="3636193"/>
              <a:ext cx="15300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 err="1">
                  <a:cs typeface="Arial" panose="020B0604020202020204" pitchFamily="34" charset="0"/>
                </a:rPr>
                <a:t>Detection</a:t>
              </a:r>
              <a:r>
                <a:rPr lang="de-DE" sz="1100" dirty="0">
                  <a:cs typeface="Arial" panose="020B0604020202020204" pitchFamily="34" charset="0"/>
                </a:rPr>
                <a:t> Software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3545D2E-187F-942E-0319-B0743DA88C82}"/>
              </a:ext>
            </a:extLst>
          </p:cNvPr>
          <p:cNvGrpSpPr/>
          <p:nvPr/>
        </p:nvGrpSpPr>
        <p:grpSpPr>
          <a:xfrm>
            <a:off x="177074" y="1775772"/>
            <a:ext cx="2160000" cy="900000"/>
            <a:chOff x="207454" y="2116951"/>
            <a:chExt cx="2160000" cy="9000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4D330F2-74F4-AA0D-7CBE-B7DEE431FEFB}"/>
                </a:ext>
              </a:extLst>
            </p:cNvPr>
            <p:cNvSpPr/>
            <p:nvPr/>
          </p:nvSpPr>
          <p:spPr>
            <a:xfrm>
              <a:off x="207454" y="2116951"/>
              <a:ext cx="2160000" cy="900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0" name="Picture 6" descr="SINTELA Logo">
              <a:extLst>
                <a:ext uri="{FF2B5EF4-FFF2-40B4-BE49-F238E27FC236}">
                  <a16:creationId xmlns:a16="http://schemas.microsoft.com/office/drawing/2014/main" id="{9F4ECD58-1AC7-F27A-CC94-3C5245011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54" y="2250033"/>
              <a:ext cx="1800000" cy="4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feld 3">
              <a:extLst>
                <a:ext uri="{FF2B5EF4-FFF2-40B4-BE49-F238E27FC236}">
                  <a16:creationId xmlns:a16="http://schemas.microsoft.com/office/drawing/2014/main" id="{5A98ABC7-8519-5F7A-78F2-B9B9DA807FFE}"/>
                </a:ext>
              </a:extLst>
            </p:cNvPr>
            <p:cNvSpPr txBox="1"/>
            <p:nvPr/>
          </p:nvSpPr>
          <p:spPr>
            <a:xfrm>
              <a:off x="400838" y="2631906"/>
              <a:ext cx="18240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>
                  <a:cs typeface="Arial" panose="020B0604020202020204" pitchFamily="34" charset="0"/>
                </a:rPr>
                <a:t>DAS </a:t>
              </a:r>
              <a:r>
                <a:rPr lang="de-DE" sz="1100" dirty="0" err="1">
                  <a:cs typeface="Arial" panose="020B0604020202020204" pitchFamily="34" charset="0"/>
                </a:rPr>
                <a:t>Interrogator</a:t>
              </a:r>
              <a:r>
                <a:rPr lang="de-DE" sz="1100" dirty="0">
                  <a:cs typeface="Arial" panose="020B0604020202020204" pitchFamily="34" charset="0"/>
                </a:rPr>
                <a:t> Technology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A0AF43-79F0-ECA5-1F2E-AB247DFBA68D}"/>
              </a:ext>
            </a:extLst>
          </p:cNvPr>
          <p:cNvCxnSpPr>
            <a:cxnSpLocks/>
          </p:cNvCxnSpPr>
          <p:nvPr/>
        </p:nvCxnSpPr>
        <p:spPr>
          <a:xfrm>
            <a:off x="5981404" y="2225772"/>
            <a:ext cx="154280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feld 7">
            <a:extLst>
              <a:ext uri="{FF2B5EF4-FFF2-40B4-BE49-F238E27FC236}">
                <a16:creationId xmlns:a16="http://schemas.microsoft.com/office/drawing/2014/main" id="{4FC3D2CE-1B93-9A31-EF6E-BCA4BACA9CC7}"/>
              </a:ext>
            </a:extLst>
          </p:cNvPr>
          <p:cNvSpPr txBox="1"/>
          <p:nvPr/>
        </p:nvSpPr>
        <p:spPr>
          <a:xfrm>
            <a:off x="6256454" y="1868296"/>
            <a:ext cx="78252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200" i="1" dirty="0">
                <a:cs typeface="Arial" panose="020B0604020202020204" pitchFamily="34" charset="0"/>
              </a:rPr>
              <a:t>Sales </a:t>
            </a:r>
          </a:p>
          <a:p>
            <a:r>
              <a:rPr lang="de-DE" sz="1200" i="1" dirty="0">
                <a:cs typeface="Arial" panose="020B0604020202020204" pitchFamily="34" charset="0"/>
              </a:rPr>
              <a:t>Rental </a:t>
            </a:r>
          </a:p>
          <a:p>
            <a:r>
              <a:rPr lang="de-DE" sz="1200" i="1" dirty="0">
                <a:cs typeface="Arial" panose="020B0604020202020204" pitchFamily="34" charset="0"/>
              </a:rPr>
              <a:t>Training Support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31EB6F-A6ED-8E93-90F8-05C7BB549AB8}"/>
              </a:ext>
            </a:extLst>
          </p:cNvPr>
          <p:cNvGrpSpPr/>
          <p:nvPr/>
        </p:nvGrpSpPr>
        <p:grpSpPr>
          <a:xfrm>
            <a:off x="1309915" y="325251"/>
            <a:ext cx="2160000" cy="914227"/>
            <a:chOff x="210915" y="143811"/>
            <a:chExt cx="2160000" cy="914227"/>
          </a:xfrm>
        </p:grpSpPr>
        <p:pic>
          <p:nvPicPr>
            <p:cNvPr id="13" name="Picture 12" descr="A blue and black logo&#10;&#10;Description automatically generated">
              <a:extLst>
                <a:ext uri="{FF2B5EF4-FFF2-40B4-BE49-F238E27FC236}">
                  <a16:creationId xmlns:a16="http://schemas.microsoft.com/office/drawing/2014/main" id="{E34C2275-7B8A-AAFA-6DFA-BA476B67D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177" y="143811"/>
              <a:ext cx="1726904" cy="720000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A3BBCBB-2E5E-3089-5B35-D1A6650FCF98}"/>
                </a:ext>
              </a:extLst>
            </p:cNvPr>
            <p:cNvSpPr/>
            <p:nvPr/>
          </p:nvSpPr>
          <p:spPr>
            <a:xfrm>
              <a:off x="210915" y="143811"/>
              <a:ext cx="2160000" cy="900000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feld 7">
              <a:extLst>
                <a:ext uri="{FF2B5EF4-FFF2-40B4-BE49-F238E27FC236}">
                  <a16:creationId xmlns:a16="http://schemas.microsoft.com/office/drawing/2014/main" id="{C9D7C6A1-4913-56BA-95E8-DBEB0933E40C}"/>
                </a:ext>
              </a:extLst>
            </p:cNvPr>
            <p:cNvSpPr txBox="1"/>
            <p:nvPr/>
          </p:nvSpPr>
          <p:spPr>
            <a:xfrm>
              <a:off x="268720" y="627151"/>
              <a:ext cx="19922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>
                  <a:cs typeface="Arial" panose="020B0604020202020204" pitchFamily="34" charset="0"/>
                </a:rPr>
                <a:t>Command and Control Interface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97646C-BB7A-8671-AB88-3914F26EDB13}"/>
              </a:ext>
            </a:extLst>
          </p:cNvPr>
          <p:cNvGrpSpPr/>
          <p:nvPr/>
        </p:nvGrpSpPr>
        <p:grpSpPr>
          <a:xfrm>
            <a:off x="3817571" y="1777786"/>
            <a:ext cx="2160000" cy="900000"/>
            <a:chOff x="4429039" y="2428127"/>
            <a:chExt cx="2160000" cy="900000"/>
          </a:xfrm>
        </p:grpSpPr>
        <p:sp>
          <p:nvSpPr>
            <p:cNvPr id="1050" name="Rectangle: Rounded Corners 1049">
              <a:extLst>
                <a:ext uri="{FF2B5EF4-FFF2-40B4-BE49-F238E27FC236}">
                  <a16:creationId xmlns:a16="http://schemas.microsoft.com/office/drawing/2014/main" id="{B5D96E05-BAD1-7408-D848-F4F317C66C1D}"/>
                </a:ext>
              </a:extLst>
            </p:cNvPr>
            <p:cNvSpPr/>
            <p:nvPr/>
          </p:nvSpPr>
          <p:spPr>
            <a:xfrm>
              <a:off x="4429039" y="2428127"/>
              <a:ext cx="2160000" cy="900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6" name="Textfeld 7">
              <a:extLst>
                <a:ext uri="{FF2B5EF4-FFF2-40B4-BE49-F238E27FC236}">
                  <a16:creationId xmlns:a16="http://schemas.microsoft.com/office/drawing/2014/main" id="{2A4BDB7B-B38F-E858-4376-42A7FE7AE9A6}"/>
                </a:ext>
              </a:extLst>
            </p:cNvPr>
            <p:cNvSpPr txBox="1"/>
            <p:nvPr/>
          </p:nvSpPr>
          <p:spPr>
            <a:xfrm>
              <a:off x="4615727" y="2896446"/>
              <a:ext cx="18386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>
                  <a:cs typeface="Arial" panose="020B0604020202020204" pitchFamily="34" charset="0"/>
                </a:rPr>
                <a:t>Integrator </a:t>
              </a:r>
              <a:r>
                <a:rPr lang="de-DE" sz="1100" dirty="0" err="1">
                  <a:cs typeface="Arial" panose="020B0604020202020204" pitchFamily="34" charset="0"/>
                </a:rPr>
                <a:t>of</a:t>
              </a:r>
              <a:r>
                <a:rPr lang="de-DE" sz="1100" dirty="0">
                  <a:cs typeface="Arial" panose="020B0604020202020204" pitchFamily="34" charset="0"/>
                </a:rPr>
                <a:t> All Components</a:t>
              </a:r>
            </a:p>
          </p:txBody>
        </p:sp>
        <p:pic>
          <p:nvPicPr>
            <p:cNvPr id="1027" name="Grafik 34">
              <a:extLst>
                <a:ext uri="{FF2B5EF4-FFF2-40B4-BE49-F238E27FC236}">
                  <a16:creationId xmlns:a16="http://schemas.microsoft.com/office/drawing/2014/main" id="{FF657275-393C-6641-8804-1DED31814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>
              <a:off x="4920833" y="2518322"/>
              <a:ext cx="1147702" cy="432000"/>
            </a:xfrm>
            <a:prstGeom prst="rect">
              <a:avLst/>
            </a:prstGeom>
          </p:spPr>
        </p:pic>
      </p:grpSp>
      <p:pic>
        <p:nvPicPr>
          <p:cNvPr id="5122" name="Picture 2" descr="Canalink">
            <a:extLst>
              <a:ext uri="{FF2B5EF4-FFF2-40B4-BE49-F238E27FC236}">
                <a16:creationId xmlns:a16="http://schemas.microsoft.com/office/drawing/2014/main" id="{EE7BADCD-E6D4-929F-6F35-C264CA328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011" y="2374802"/>
            <a:ext cx="127831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: Rounded Corners 1044">
            <a:extLst>
              <a:ext uri="{FF2B5EF4-FFF2-40B4-BE49-F238E27FC236}">
                <a16:creationId xmlns:a16="http://schemas.microsoft.com/office/drawing/2014/main" id="{34D94E87-D328-5224-6519-AF949FFB5C12}"/>
              </a:ext>
            </a:extLst>
          </p:cNvPr>
          <p:cNvSpPr/>
          <p:nvPr/>
        </p:nvSpPr>
        <p:spPr>
          <a:xfrm>
            <a:off x="7600596" y="2360077"/>
            <a:ext cx="1698460" cy="54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Submarine Cable Operators</a:t>
            </a:r>
          </a:p>
        </p:txBody>
      </p:sp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C439CFD3-F8B3-EF82-C63D-07C586ED5AA5}"/>
              </a:ext>
            </a:extLst>
          </p:cNvPr>
          <p:cNvSpPr/>
          <p:nvPr/>
        </p:nvSpPr>
        <p:spPr>
          <a:xfrm>
            <a:off x="7600596" y="1597981"/>
            <a:ext cx="1698460" cy="54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Authorities</a:t>
            </a:r>
          </a:p>
        </p:txBody>
      </p:sp>
      <p:cxnSp>
        <p:nvCxnSpPr>
          <p:cNvPr id="1033" name="Connector: Curved 1032">
            <a:extLst>
              <a:ext uri="{FF2B5EF4-FFF2-40B4-BE49-F238E27FC236}">
                <a16:creationId xmlns:a16="http://schemas.microsoft.com/office/drawing/2014/main" id="{25DCF96E-670C-3B8D-4732-5B76B0F8F287}"/>
              </a:ext>
            </a:extLst>
          </p:cNvPr>
          <p:cNvCxnSpPr>
            <a:stCxn id="8" idx="3"/>
            <a:endCxn id="1050" idx="0"/>
          </p:cNvCxnSpPr>
          <p:nvPr/>
        </p:nvCxnSpPr>
        <p:spPr>
          <a:xfrm>
            <a:off x="3469915" y="775251"/>
            <a:ext cx="1427656" cy="1002535"/>
          </a:xfrm>
          <a:prstGeom prst="curved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: Curved 1034">
            <a:extLst>
              <a:ext uri="{FF2B5EF4-FFF2-40B4-BE49-F238E27FC236}">
                <a16:creationId xmlns:a16="http://schemas.microsoft.com/office/drawing/2014/main" id="{FEE90661-35E7-7503-3CA6-47CC9B817820}"/>
              </a:ext>
            </a:extLst>
          </p:cNvPr>
          <p:cNvCxnSpPr>
            <a:stCxn id="1024" idx="3"/>
            <a:endCxn id="1050" idx="2"/>
          </p:cNvCxnSpPr>
          <p:nvPr/>
        </p:nvCxnSpPr>
        <p:spPr>
          <a:xfrm flipV="1">
            <a:off x="3444741" y="2677786"/>
            <a:ext cx="1452830" cy="1002224"/>
          </a:xfrm>
          <a:prstGeom prst="curved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3" name="Straight Arrow Connector 5122">
            <a:extLst>
              <a:ext uri="{FF2B5EF4-FFF2-40B4-BE49-F238E27FC236}">
                <a16:creationId xmlns:a16="http://schemas.microsoft.com/office/drawing/2014/main" id="{F09BB02E-69C1-B090-8868-A82EC1820F3D}"/>
              </a:ext>
            </a:extLst>
          </p:cNvPr>
          <p:cNvCxnSpPr>
            <a:cxnSpLocks/>
            <a:stCxn id="26" idx="3"/>
            <a:endCxn id="7" idx="1"/>
          </p:cNvCxnSpPr>
          <p:nvPr/>
        </p:nvCxnSpPr>
        <p:spPr>
          <a:xfrm flipV="1">
            <a:off x="3444741" y="4954401"/>
            <a:ext cx="2043853" cy="47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Arrow Connector 5125">
            <a:extLst>
              <a:ext uri="{FF2B5EF4-FFF2-40B4-BE49-F238E27FC236}">
                <a16:creationId xmlns:a16="http://schemas.microsoft.com/office/drawing/2014/main" id="{78DA22D2-278A-61B5-9930-5F9D097E066D}"/>
              </a:ext>
            </a:extLst>
          </p:cNvPr>
          <p:cNvCxnSpPr>
            <a:cxnSpLocks/>
            <a:stCxn id="29" idx="3"/>
            <a:endCxn id="1050" idx="1"/>
          </p:cNvCxnSpPr>
          <p:nvPr/>
        </p:nvCxnSpPr>
        <p:spPr>
          <a:xfrm>
            <a:off x="2337074" y="2225772"/>
            <a:ext cx="1480497" cy="20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7" name="Textfeld 7">
            <a:extLst>
              <a:ext uri="{FF2B5EF4-FFF2-40B4-BE49-F238E27FC236}">
                <a16:creationId xmlns:a16="http://schemas.microsoft.com/office/drawing/2014/main" id="{9B8FC59F-CF6C-49D0-66AF-11668163C2FE}"/>
              </a:ext>
            </a:extLst>
          </p:cNvPr>
          <p:cNvSpPr txBox="1"/>
          <p:nvPr/>
        </p:nvSpPr>
        <p:spPr>
          <a:xfrm>
            <a:off x="3893834" y="4738957"/>
            <a:ext cx="11456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200" i="1" dirty="0">
                <a:cs typeface="Arial" panose="020B0604020202020204" pitchFamily="34" charset="0"/>
              </a:rPr>
              <a:t>Sales </a:t>
            </a:r>
            <a:r>
              <a:rPr lang="de-DE" sz="1200" i="1" dirty="0" err="1">
                <a:cs typeface="Arial" panose="020B0604020202020204" pitchFamily="34" charset="0"/>
              </a:rPr>
              <a:t>of</a:t>
            </a:r>
            <a:r>
              <a:rPr lang="de-DE" sz="1200" i="1" dirty="0">
                <a:cs typeface="Arial" panose="020B0604020202020204" pitchFamily="34" charset="0"/>
              </a:rPr>
              <a:t> Cable Components </a:t>
            </a:r>
          </a:p>
        </p:txBody>
      </p:sp>
      <p:sp>
        <p:nvSpPr>
          <p:cNvPr id="5128" name="Textfeld 7">
            <a:extLst>
              <a:ext uri="{FF2B5EF4-FFF2-40B4-BE49-F238E27FC236}">
                <a16:creationId xmlns:a16="http://schemas.microsoft.com/office/drawing/2014/main" id="{3E343AFB-92CC-74E3-BE43-52BF2FC2311D}"/>
              </a:ext>
            </a:extLst>
          </p:cNvPr>
          <p:cNvSpPr txBox="1"/>
          <p:nvPr/>
        </p:nvSpPr>
        <p:spPr>
          <a:xfrm>
            <a:off x="2645408" y="2037574"/>
            <a:ext cx="82271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cs typeface="Arial" panose="020B0604020202020204" pitchFamily="34" charset="0"/>
              </a:rPr>
              <a:t>Sales and </a:t>
            </a:r>
          </a:p>
          <a:p>
            <a:pPr algn="ctr"/>
            <a:r>
              <a:rPr lang="de-DE" sz="1200" i="1" dirty="0">
                <a:cs typeface="Arial" panose="020B0604020202020204" pitchFamily="34" charset="0"/>
              </a:rPr>
              <a:t>Rental</a:t>
            </a:r>
          </a:p>
        </p:txBody>
      </p:sp>
      <p:sp>
        <p:nvSpPr>
          <p:cNvPr id="5129" name="Textfeld 7">
            <a:extLst>
              <a:ext uri="{FF2B5EF4-FFF2-40B4-BE49-F238E27FC236}">
                <a16:creationId xmlns:a16="http://schemas.microsoft.com/office/drawing/2014/main" id="{AEEEF82F-AE68-7460-8218-B00E00098D4B}"/>
              </a:ext>
            </a:extLst>
          </p:cNvPr>
          <p:cNvSpPr txBox="1"/>
          <p:nvPr/>
        </p:nvSpPr>
        <p:spPr>
          <a:xfrm>
            <a:off x="3769798" y="3245202"/>
            <a:ext cx="146291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200" i="1" dirty="0">
                <a:cs typeface="Arial" panose="020B0604020202020204" pitchFamily="34" charset="0"/>
              </a:rPr>
              <a:t>Software Licensing</a:t>
            </a:r>
          </a:p>
        </p:txBody>
      </p:sp>
      <p:sp>
        <p:nvSpPr>
          <p:cNvPr id="5130" name="Textfeld 7">
            <a:extLst>
              <a:ext uri="{FF2B5EF4-FFF2-40B4-BE49-F238E27FC236}">
                <a16:creationId xmlns:a16="http://schemas.microsoft.com/office/drawing/2014/main" id="{10BD40EB-3ECA-5019-4F22-400E77DF68AA}"/>
              </a:ext>
            </a:extLst>
          </p:cNvPr>
          <p:cNvSpPr txBox="1"/>
          <p:nvPr/>
        </p:nvSpPr>
        <p:spPr>
          <a:xfrm>
            <a:off x="3846124" y="942661"/>
            <a:ext cx="146291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200" i="1" dirty="0">
                <a:cs typeface="Arial" panose="020B0604020202020204" pitchFamily="34" charset="0"/>
              </a:rPr>
              <a:t>Software Licensing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5D85D8-47F8-1623-9B0A-22B50D7FEF4C}"/>
              </a:ext>
            </a:extLst>
          </p:cNvPr>
          <p:cNvSpPr/>
          <p:nvPr/>
        </p:nvSpPr>
        <p:spPr>
          <a:xfrm>
            <a:off x="5488594" y="4684401"/>
            <a:ext cx="1698460" cy="54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Subsea Cable Installers</a:t>
            </a: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0DF0912F-75EC-D390-316B-E1CD06EEB1CC}"/>
              </a:ext>
            </a:extLst>
          </p:cNvPr>
          <p:cNvGrpSpPr/>
          <p:nvPr/>
        </p:nvGrpSpPr>
        <p:grpSpPr>
          <a:xfrm>
            <a:off x="1284741" y="4509197"/>
            <a:ext cx="2160000" cy="900000"/>
            <a:chOff x="1284741" y="4842572"/>
            <a:chExt cx="2160000" cy="90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53696A5-168B-5933-A2AD-12A6395127BB}"/>
                </a:ext>
              </a:extLst>
            </p:cNvPr>
            <p:cNvSpPr/>
            <p:nvPr/>
          </p:nvSpPr>
          <p:spPr>
            <a:xfrm>
              <a:off x="1284741" y="4842572"/>
              <a:ext cx="2160000" cy="900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feld 7">
              <a:extLst>
                <a:ext uri="{FF2B5EF4-FFF2-40B4-BE49-F238E27FC236}">
                  <a16:creationId xmlns:a16="http://schemas.microsoft.com/office/drawing/2014/main" id="{65A04826-7B0C-D33A-04B7-811A3626CD71}"/>
                </a:ext>
              </a:extLst>
            </p:cNvPr>
            <p:cNvSpPr txBox="1"/>
            <p:nvPr/>
          </p:nvSpPr>
          <p:spPr>
            <a:xfrm>
              <a:off x="1608805" y="5348978"/>
              <a:ext cx="1516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>
                  <a:cs typeface="Arial" panose="020B0604020202020204" pitchFamily="34" charset="0"/>
                </a:rPr>
                <a:t>Fiber </a:t>
              </a:r>
              <a:r>
                <a:rPr lang="de-DE" sz="1100" dirty="0" err="1">
                  <a:cs typeface="Arial" panose="020B0604020202020204" pitchFamily="34" charset="0"/>
                </a:rPr>
                <a:t>Optic</a:t>
              </a:r>
              <a:r>
                <a:rPr lang="de-DE" sz="1100" dirty="0">
                  <a:cs typeface="Arial" panose="020B0604020202020204" pitchFamily="34" charset="0"/>
                </a:rPr>
                <a:t> Cables</a:t>
              </a:r>
            </a:p>
          </p:txBody>
        </p:sp>
        <p:pic>
          <p:nvPicPr>
            <p:cNvPr id="12" name="Picture 2" descr="Home - NBG Fiber Optics">
              <a:extLst>
                <a:ext uri="{FF2B5EF4-FFF2-40B4-BE49-F238E27FC236}">
                  <a16:creationId xmlns:a16="http://schemas.microsoft.com/office/drawing/2014/main" id="{37FC0F25-F668-F8D1-FD13-BE785D9DE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1215" y="5019865"/>
              <a:ext cx="1440000" cy="358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>
            <a:extLst>
              <a:ext uri="{FF2B5EF4-FFF2-40B4-BE49-F238E27FC236}">
                <a16:creationId xmlns:a16="http://schemas.microsoft.com/office/drawing/2014/main" id="{81AF4DDE-005A-B65B-CDA0-E00CB8CB4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011" y="1342218"/>
            <a:ext cx="728324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6" name="Connector: Curved 1035">
            <a:extLst>
              <a:ext uri="{FF2B5EF4-FFF2-40B4-BE49-F238E27FC236}">
                <a16:creationId xmlns:a16="http://schemas.microsoft.com/office/drawing/2014/main" id="{B8568F60-457C-416E-AB02-E2B486AAFC0A}"/>
              </a:ext>
            </a:extLst>
          </p:cNvPr>
          <p:cNvCxnSpPr>
            <a:cxnSpLocks/>
            <a:stCxn id="7" idx="3"/>
            <a:endCxn id="1045" idx="2"/>
          </p:cNvCxnSpPr>
          <p:nvPr/>
        </p:nvCxnSpPr>
        <p:spPr>
          <a:xfrm flipV="1">
            <a:off x="7187054" y="2900077"/>
            <a:ext cx="1262772" cy="2054324"/>
          </a:xfrm>
          <a:prstGeom prst="curved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7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6649F70-E1EF-11D2-5160-841E7F6E97CA}"/>
              </a:ext>
            </a:extLst>
          </p:cNvPr>
          <p:cNvCxnSpPr>
            <a:cxnSpLocks/>
            <a:stCxn id="103" idx="1"/>
            <a:endCxn id="100" idx="0"/>
          </p:cNvCxnSpPr>
          <p:nvPr/>
        </p:nvCxnSpPr>
        <p:spPr>
          <a:xfrm rot="10800000" flipV="1">
            <a:off x="7193233" y="592243"/>
            <a:ext cx="595288" cy="93220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" name="Picture 7">
            <a:extLst>
              <a:ext uri="{FF2B5EF4-FFF2-40B4-BE49-F238E27FC236}">
                <a16:creationId xmlns:a16="http://schemas.microsoft.com/office/drawing/2014/main" id="{F26216F6-DB60-4792-6885-7BD6442C2E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29"/>
          <a:stretch/>
        </p:blipFill>
        <p:spPr bwMode="auto">
          <a:xfrm rot="350698">
            <a:off x="205429" y="2524639"/>
            <a:ext cx="4287875" cy="187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Graphic 5" descr="Wave outline">
            <a:extLst>
              <a:ext uri="{FF2B5EF4-FFF2-40B4-BE49-F238E27FC236}">
                <a16:creationId xmlns:a16="http://schemas.microsoft.com/office/drawing/2014/main" id="{2D614AC0-E6C5-951B-3008-C2E8403AA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719" y="1075756"/>
            <a:ext cx="1090926" cy="1090926"/>
          </a:xfrm>
          <a:prstGeom prst="rect">
            <a:avLst/>
          </a:prstGeom>
        </p:spPr>
      </p:pic>
      <p:pic>
        <p:nvPicPr>
          <p:cNvPr id="17" name="Graphic 16" descr="DVD player with solid fill">
            <a:extLst>
              <a:ext uri="{FF2B5EF4-FFF2-40B4-BE49-F238E27FC236}">
                <a16:creationId xmlns:a16="http://schemas.microsoft.com/office/drawing/2014/main" id="{B2D8436F-20C6-3BBD-4156-9170125481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2391" y="1990710"/>
            <a:ext cx="1192350" cy="119235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C839DCE5-E697-6F4E-6833-398D9FD08B80}"/>
              </a:ext>
            </a:extLst>
          </p:cNvPr>
          <p:cNvGrpSpPr/>
          <p:nvPr/>
        </p:nvGrpSpPr>
        <p:grpSpPr>
          <a:xfrm>
            <a:off x="8789322" y="2140410"/>
            <a:ext cx="2471577" cy="914400"/>
            <a:chOff x="6871188" y="1791789"/>
            <a:chExt cx="2471577" cy="914400"/>
          </a:xfrm>
        </p:grpSpPr>
        <p:pic>
          <p:nvPicPr>
            <p:cNvPr id="19" name="Graphic 18" descr="Monitor with solid fill">
              <a:extLst>
                <a:ext uri="{FF2B5EF4-FFF2-40B4-BE49-F238E27FC236}">
                  <a16:creationId xmlns:a16="http://schemas.microsoft.com/office/drawing/2014/main" id="{2E6E8035-FE34-4F6D-91F8-36E89CFE3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49777" y="1791789"/>
              <a:ext cx="914400" cy="914400"/>
            </a:xfrm>
            <a:prstGeom prst="rect">
              <a:avLst/>
            </a:prstGeom>
          </p:spPr>
        </p:pic>
        <p:pic>
          <p:nvPicPr>
            <p:cNvPr id="20" name="Graphic 19" descr="Monitor with solid fill">
              <a:extLst>
                <a:ext uri="{FF2B5EF4-FFF2-40B4-BE49-F238E27FC236}">
                  <a16:creationId xmlns:a16="http://schemas.microsoft.com/office/drawing/2014/main" id="{0BD526E1-3992-E98F-E535-CCA931B41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71188" y="1791789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Monitor with solid fill">
              <a:extLst>
                <a:ext uri="{FF2B5EF4-FFF2-40B4-BE49-F238E27FC236}">
                  <a16:creationId xmlns:a16="http://schemas.microsoft.com/office/drawing/2014/main" id="{BAF0603C-36EE-278C-C204-B6D91BDC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28365" y="1791789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Siren with solid fill">
              <a:extLst>
                <a:ext uri="{FF2B5EF4-FFF2-40B4-BE49-F238E27FC236}">
                  <a16:creationId xmlns:a16="http://schemas.microsoft.com/office/drawing/2014/main" id="{E6FA8295-71BD-D6E8-3CDC-35061822B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73638" y="1962296"/>
              <a:ext cx="423853" cy="423853"/>
            </a:xfrm>
            <a:prstGeom prst="rect">
              <a:avLst/>
            </a:prstGeom>
          </p:spPr>
        </p:pic>
        <p:pic>
          <p:nvPicPr>
            <p:cNvPr id="35" name="Graphic 34" descr="Table outline">
              <a:extLst>
                <a:ext uri="{FF2B5EF4-FFF2-40B4-BE49-F238E27FC236}">
                  <a16:creationId xmlns:a16="http://schemas.microsoft.com/office/drawing/2014/main" id="{75161F5C-1B4C-6D8F-E2A0-A0DFF7780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67576" y="1996134"/>
              <a:ext cx="360000" cy="360000"/>
            </a:xfrm>
            <a:prstGeom prst="rect">
              <a:avLst/>
            </a:prstGeom>
          </p:spPr>
        </p:pic>
        <p:pic>
          <p:nvPicPr>
            <p:cNvPr id="37" name="Graphic 36" descr="Europe with solid fill">
              <a:extLst>
                <a:ext uri="{FF2B5EF4-FFF2-40B4-BE49-F238E27FC236}">
                  <a16:creationId xmlns:a16="http://schemas.microsoft.com/office/drawing/2014/main" id="{B9E4ED8F-272C-4E24-2095-A462FD96F0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15064" t="58014" r="49687" b="9380"/>
            <a:stretch/>
          </p:blipFill>
          <p:spPr>
            <a:xfrm>
              <a:off x="7912379" y="2056096"/>
              <a:ext cx="389196" cy="360000"/>
            </a:xfrm>
            <a:prstGeom prst="rect">
              <a:avLst/>
            </a:prstGeom>
          </p:spPr>
        </p:pic>
        <p:pic>
          <p:nvPicPr>
            <p:cNvPr id="42" name="Graphic 41" descr="List outline">
              <a:extLst>
                <a:ext uri="{FF2B5EF4-FFF2-40B4-BE49-F238E27FC236}">
                  <a16:creationId xmlns:a16="http://schemas.microsoft.com/office/drawing/2014/main" id="{96B94947-3020-FEFF-7A5C-C06604348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978115" y="2012697"/>
              <a:ext cx="360000" cy="360000"/>
            </a:xfrm>
            <a:prstGeom prst="rect">
              <a:avLst/>
            </a:prstGeom>
          </p:spPr>
        </p:pic>
      </p:grpSp>
      <p:pic>
        <p:nvPicPr>
          <p:cNvPr id="55" name="Graphic 54" descr="Anchor with solid fill">
            <a:extLst>
              <a:ext uri="{FF2B5EF4-FFF2-40B4-BE49-F238E27FC236}">
                <a16:creationId xmlns:a16="http://schemas.microsoft.com/office/drawing/2014/main" id="{5B040523-7AD7-F37F-F4D6-567A0278478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908425" y="2276199"/>
            <a:ext cx="360000" cy="360000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3118D72-0062-B328-2C87-388EF7AC9207}"/>
              </a:ext>
            </a:extLst>
          </p:cNvPr>
          <p:cNvCxnSpPr>
            <a:cxnSpLocks/>
          </p:cNvCxnSpPr>
          <p:nvPr/>
        </p:nvCxnSpPr>
        <p:spPr>
          <a:xfrm>
            <a:off x="3088425" y="1922041"/>
            <a:ext cx="0" cy="3827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Graphic 58" descr="Wi-Fi outline">
            <a:extLst>
              <a:ext uri="{FF2B5EF4-FFF2-40B4-BE49-F238E27FC236}">
                <a16:creationId xmlns:a16="http://schemas.microsoft.com/office/drawing/2014/main" id="{0059DB37-F870-B550-0AF4-753C8E04AB1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1454541">
            <a:off x="2661561" y="2464487"/>
            <a:ext cx="461337" cy="461337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274444E-1998-218E-2FCD-5DC884B54198}"/>
              </a:ext>
            </a:extLst>
          </p:cNvPr>
          <p:cNvGrpSpPr/>
          <p:nvPr/>
        </p:nvGrpSpPr>
        <p:grpSpPr>
          <a:xfrm>
            <a:off x="3999505" y="880474"/>
            <a:ext cx="1844441" cy="628448"/>
            <a:chOff x="9327131" y="5244908"/>
            <a:chExt cx="1844441" cy="62844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A11417EA-D718-10C0-61F0-CE273ED42E3A}"/>
                </a:ext>
              </a:extLst>
            </p:cNvPr>
            <p:cNvSpPr/>
            <p:nvPr/>
          </p:nvSpPr>
          <p:spPr>
            <a:xfrm>
              <a:off x="9327131" y="5244908"/>
              <a:ext cx="1844441" cy="6284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feld 3">
              <a:extLst>
                <a:ext uri="{FF2B5EF4-FFF2-40B4-BE49-F238E27FC236}">
                  <a16:creationId xmlns:a16="http://schemas.microsoft.com/office/drawing/2014/main" id="{C0F8DE36-138B-C4A0-C290-B486C76289FC}"/>
                </a:ext>
              </a:extLst>
            </p:cNvPr>
            <p:cNvSpPr txBox="1"/>
            <p:nvPr/>
          </p:nvSpPr>
          <p:spPr>
            <a:xfrm>
              <a:off x="9371572" y="5571797"/>
              <a:ext cx="18000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dirty="0">
                  <a:cs typeface="Arial" panose="020B0604020202020204" pitchFamily="34" charset="0"/>
                </a:rPr>
                <a:t>DAS Technology Provider</a:t>
              </a:r>
            </a:p>
          </p:txBody>
        </p:sp>
        <p:pic>
          <p:nvPicPr>
            <p:cNvPr id="69" name="Picture 6" descr="SINTELA Logo">
              <a:extLst>
                <a:ext uri="{FF2B5EF4-FFF2-40B4-BE49-F238E27FC236}">
                  <a16:creationId xmlns:a16="http://schemas.microsoft.com/office/drawing/2014/main" id="{157685E0-74BB-1C74-D1CC-64E17F373E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5587" y="5303640"/>
              <a:ext cx="1233629" cy="279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1B7FD6B5-27EE-63D9-C496-63FA56538599}"/>
              </a:ext>
            </a:extLst>
          </p:cNvPr>
          <p:cNvSpPr txBox="1"/>
          <p:nvPr/>
        </p:nvSpPr>
        <p:spPr>
          <a:xfrm>
            <a:off x="4165230" y="2776345"/>
            <a:ext cx="1373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DAS Interrogator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B2FE56-FC36-7F39-C1D7-7CFBDED48B9E}"/>
              </a:ext>
            </a:extLst>
          </p:cNvPr>
          <p:cNvGrpSpPr/>
          <p:nvPr/>
        </p:nvGrpSpPr>
        <p:grpSpPr>
          <a:xfrm>
            <a:off x="9000221" y="1471785"/>
            <a:ext cx="1873407" cy="751027"/>
            <a:chOff x="9162495" y="1861507"/>
            <a:chExt cx="1873407" cy="751027"/>
          </a:xfrm>
        </p:grpSpPr>
        <p:pic>
          <p:nvPicPr>
            <p:cNvPr id="80" name="Picture 79" descr="A blue and black logo&#10;&#10;Description automatically generated">
              <a:extLst>
                <a:ext uri="{FF2B5EF4-FFF2-40B4-BE49-F238E27FC236}">
                  <a16:creationId xmlns:a16="http://schemas.microsoft.com/office/drawing/2014/main" id="{F6001932-2787-476E-FE13-265670998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8410" y="1861507"/>
              <a:ext cx="1295178" cy="540000"/>
            </a:xfrm>
            <a:prstGeom prst="rect">
              <a:avLst/>
            </a:prstGeom>
          </p:spPr>
        </p:pic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AC608CBF-E4E8-F706-A843-B72A44322D22}"/>
                </a:ext>
              </a:extLst>
            </p:cNvPr>
            <p:cNvSpPr/>
            <p:nvPr/>
          </p:nvSpPr>
          <p:spPr>
            <a:xfrm>
              <a:off x="9191461" y="1913940"/>
              <a:ext cx="1844441" cy="628448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feld 3">
              <a:extLst>
                <a:ext uri="{FF2B5EF4-FFF2-40B4-BE49-F238E27FC236}">
                  <a16:creationId xmlns:a16="http://schemas.microsoft.com/office/drawing/2014/main" id="{2FC5F4DD-1B78-2EB0-3D46-6C71C18273EE}"/>
                </a:ext>
              </a:extLst>
            </p:cNvPr>
            <p:cNvSpPr txBox="1"/>
            <p:nvPr/>
          </p:nvSpPr>
          <p:spPr>
            <a:xfrm>
              <a:off x="9162495" y="2181647"/>
              <a:ext cx="18734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dirty="0">
                  <a:cs typeface="Arial" panose="020B0604020202020204" pitchFamily="34" charset="0"/>
                </a:rPr>
                <a:t>Command and Control Interface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5D1FB55-C034-9D1A-2727-FD4CA1209240}"/>
              </a:ext>
            </a:extLst>
          </p:cNvPr>
          <p:cNvGrpSpPr/>
          <p:nvPr/>
        </p:nvGrpSpPr>
        <p:grpSpPr>
          <a:xfrm>
            <a:off x="6570873" y="2053136"/>
            <a:ext cx="1150738" cy="1144424"/>
            <a:chOff x="5481599" y="3589813"/>
            <a:chExt cx="1311903" cy="1311903"/>
          </a:xfrm>
        </p:grpSpPr>
        <p:pic>
          <p:nvPicPr>
            <p:cNvPr id="85" name="Graphic 84" descr="Research outline">
              <a:extLst>
                <a:ext uri="{FF2B5EF4-FFF2-40B4-BE49-F238E27FC236}">
                  <a16:creationId xmlns:a16="http://schemas.microsoft.com/office/drawing/2014/main" id="{FF6859FA-ACE9-9D31-D303-3B4D4E7E0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883596" y="3966210"/>
              <a:ext cx="559107" cy="559107"/>
            </a:xfrm>
            <a:prstGeom prst="rect">
              <a:avLst/>
            </a:prstGeom>
          </p:spPr>
        </p:pic>
        <p:pic>
          <p:nvPicPr>
            <p:cNvPr id="87" name="Graphic 86" descr="Tablet with solid fill">
              <a:extLst>
                <a:ext uri="{FF2B5EF4-FFF2-40B4-BE49-F238E27FC236}">
                  <a16:creationId xmlns:a16="http://schemas.microsoft.com/office/drawing/2014/main" id="{FACD2EB5-80D1-5F5A-83FB-FCCAFA46C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481599" y="3589813"/>
              <a:ext cx="1311903" cy="1311903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FE60911-4E68-2DE5-743D-AE73A6C0C5C6}"/>
              </a:ext>
            </a:extLst>
          </p:cNvPr>
          <p:cNvGrpSpPr/>
          <p:nvPr/>
        </p:nvGrpSpPr>
        <p:grpSpPr>
          <a:xfrm>
            <a:off x="4002554" y="1535095"/>
            <a:ext cx="1844441" cy="628448"/>
            <a:chOff x="5282715" y="4178917"/>
            <a:chExt cx="1844441" cy="628448"/>
          </a:xfrm>
        </p:grpSpPr>
        <p:pic>
          <p:nvPicPr>
            <p:cNvPr id="91" name="Grafik 34">
              <a:extLst>
                <a:ext uri="{FF2B5EF4-FFF2-40B4-BE49-F238E27FC236}">
                  <a16:creationId xmlns:a16="http://schemas.microsoft.com/office/drawing/2014/main" id="{D9CEC5A2-E91D-AA1B-ECDB-3560FE2BD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/>
          </p:blipFill>
          <p:spPr bwMode="auto">
            <a:xfrm>
              <a:off x="5705661" y="4241707"/>
              <a:ext cx="979085" cy="368532"/>
            </a:xfrm>
            <a:prstGeom prst="rect">
              <a:avLst/>
            </a:prstGeom>
          </p:spPr>
        </p:pic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06335348-6AD4-037B-8B88-EE940A80C176}"/>
                </a:ext>
              </a:extLst>
            </p:cNvPr>
            <p:cNvSpPr/>
            <p:nvPr/>
          </p:nvSpPr>
          <p:spPr>
            <a:xfrm>
              <a:off x="5282715" y="4178917"/>
              <a:ext cx="1844441" cy="628448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feld 3">
              <a:extLst>
                <a:ext uri="{FF2B5EF4-FFF2-40B4-BE49-F238E27FC236}">
                  <a16:creationId xmlns:a16="http://schemas.microsoft.com/office/drawing/2014/main" id="{678BC491-5BCF-B98B-C98D-4BEBAC918924}"/>
                </a:ext>
              </a:extLst>
            </p:cNvPr>
            <p:cNvSpPr txBox="1"/>
            <p:nvPr/>
          </p:nvSpPr>
          <p:spPr>
            <a:xfrm>
              <a:off x="5282715" y="4530251"/>
              <a:ext cx="18000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dirty="0">
                  <a:cs typeface="Arial" panose="020B0604020202020204" pitchFamily="34" charset="0"/>
                </a:rPr>
                <a:t>System Integration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ED4E742-100D-1898-C05B-6C573FB0AE81}"/>
              </a:ext>
            </a:extLst>
          </p:cNvPr>
          <p:cNvGrpSpPr/>
          <p:nvPr/>
        </p:nvGrpSpPr>
        <p:grpSpPr>
          <a:xfrm>
            <a:off x="6271012" y="1524453"/>
            <a:ext cx="1844441" cy="659849"/>
            <a:chOff x="6029670" y="5140434"/>
            <a:chExt cx="1844441" cy="659849"/>
          </a:xfrm>
        </p:grpSpPr>
        <p:pic>
          <p:nvPicPr>
            <p:cNvPr id="99" name="Picture 6" descr="Ähnliches Foto">
              <a:extLst>
                <a:ext uri="{FF2B5EF4-FFF2-40B4-BE49-F238E27FC236}">
                  <a16:creationId xmlns:a16="http://schemas.microsoft.com/office/drawing/2014/main" id="{1494CAE9-6313-68FC-379E-40A55DAFD2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3395" y="5196508"/>
              <a:ext cx="1496990" cy="38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796062F4-BC12-A0C2-70C9-DC115E93D233}"/>
                </a:ext>
              </a:extLst>
            </p:cNvPr>
            <p:cNvSpPr/>
            <p:nvPr/>
          </p:nvSpPr>
          <p:spPr>
            <a:xfrm>
              <a:off x="6029670" y="5140434"/>
              <a:ext cx="1844441" cy="628448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Textfeld 3">
              <a:extLst>
                <a:ext uri="{FF2B5EF4-FFF2-40B4-BE49-F238E27FC236}">
                  <a16:creationId xmlns:a16="http://schemas.microsoft.com/office/drawing/2014/main" id="{8E9BD59B-C9DB-8E0B-7003-A3BCD50254C8}"/>
                </a:ext>
              </a:extLst>
            </p:cNvPr>
            <p:cNvSpPr txBox="1"/>
            <p:nvPr/>
          </p:nvSpPr>
          <p:spPr>
            <a:xfrm>
              <a:off x="6070486" y="5538673"/>
              <a:ext cx="180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dirty="0" err="1">
                  <a:cs typeface="Arial" panose="020B0604020202020204" pitchFamily="34" charset="0"/>
                </a:rPr>
                <a:t>Detection</a:t>
              </a:r>
              <a:r>
                <a:rPr lang="de-DE" sz="1050" dirty="0">
                  <a:cs typeface="Arial" panose="020B0604020202020204" pitchFamily="34" charset="0"/>
                </a:rPr>
                <a:t> </a:t>
              </a:r>
              <a:r>
                <a:rPr lang="de-DE" sz="1050" dirty="0" err="1">
                  <a:cs typeface="Arial" panose="020B0604020202020204" pitchFamily="34" charset="0"/>
                </a:rPr>
                <a:t>Algorithm</a:t>
              </a:r>
              <a:endParaRPr lang="de-DE" sz="1050" dirty="0">
                <a:cs typeface="Arial" panose="020B060402020202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0AC6B70-4820-6D3E-32E5-022C0676E1FC}"/>
              </a:ext>
            </a:extLst>
          </p:cNvPr>
          <p:cNvGrpSpPr/>
          <p:nvPr/>
        </p:nvGrpSpPr>
        <p:grpSpPr>
          <a:xfrm>
            <a:off x="7786348" y="-282366"/>
            <a:ext cx="1533595" cy="1533595"/>
            <a:chOff x="7342341" y="-317405"/>
            <a:chExt cx="1533595" cy="1533595"/>
          </a:xfrm>
        </p:grpSpPr>
        <p:pic>
          <p:nvPicPr>
            <p:cNvPr id="98" name="Graphic 97" descr="Cloud outline">
              <a:extLst>
                <a:ext uri="{FF2B5EF4-FFF2-40B4-BE49-F238E27FC236}">
                  <a16:creationId xmlns:a16="http://schemas.microsoft.com/office/drawing/2014/main" id="{FBB6F4A2-1374-B4AC-E041-FC58E3A07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7342341" y="-317405"/>
              <a:ext cx="1533595" cy="1533595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49A316E-0323-3B87-2C79-C7E71804F672}"/>
                </a:ext>
              </a:extLst>
            </p:cNvPr>
            <p:cNvSpPr txBox="1"/>
            <p:nvPr/>
          </p:nvSpPr>
          <p:spPr>
            <a:xfrm>
              <a:off x="7344514" y="426400"/>
              <a:ext cx="1514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AIS Tracking Data</a:t>
              </a:r>
            </a:p>
          </p:txBody>
        </p:sp>
      </p:grpSp>
      <p:pic>
        <p:nvPicPr>
          <p:cNvPr id="2" name="Graphic 1" descr="Wave outline">
            <a:extLst>
              <a:ext uri="{FF2B5EF4-FFF2-40B4-BE49-F238E27FC236}">
                <a16:creationId xmlns:a16="http://schemas.microsoft.com/office/drawing/2014/main" id="{BCEB4FD0-9A64-33A4-BF24-CA5161BE1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722" y="1070377"/>
            <a:ext cx="1090926" cy="1090926"/>
          </a:xfrm>
          <a:prstGeom prst="rect">
            <a:avLst/>
          </a:prstGeom>
        </p:spPr>
      </p:pic>
      <p:pic>
        <p:nvPicPr>
          <p:cNvPr id="3" name="Graphic 2" descr="Wave outline">
            <a:extLst>
              <a:ext uri="{FF2B5EF4-FFF2-40B4-BE49-F238E27FC236}">
                <a16:creationId xmlns:a16="http://schemas.microsoft.com/office/drawing/2014/main" id="{6CBA2D3F-E687-E9DD-3EF3-96C62AAB2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6678" y="1074209"/>
            <a:ext cx="1090926" cy="1090926"/>
          </a:xfrm>
          <a:prstGeom prst="rect">
            <a:avLst/>
          </a:prstGeom>
        </p:spPr>
      </p:pic>
      <p:pic>
        <p:nvPicPr>
          <p:cNvPr id="14" name="Graphic 13" descr="Tug boat with solid fill">
            <a:extLst>
              <a:ext uri="{FF2B5EF4-FFF2-40B4-BE49-F238E27FC236}">
                <a16:creationId xmlns:a16="http://schemas.microsoft.com/office/drawing/2014/main" id="{FBFCA5BF-670F-40D3-725B-B788542830F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51225" y="1206706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4B4D48-A8BC-861F-F3C1-EC96F89D7FC7}"/>
              </a:ext>
            </a:extLst>
          </p:cNvPr>
          <p:cNvSpPr/>
          <p:nvPr/>
        </p:nvSpPr>
        <p:spPr>
          <a:xfrm rot="851249">
            <a:off x="3510145" y="3699008"/>
            <a:ext cx="1282519" cy="5556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40D91B-BCD3-C7DC-984B-6093E5209B10}"/>
              </a:ext>
            </a:extLst>
          </p:cNvPr>
          <p:cNvSpPr/>
          <p:nvPr/>
        </p:nvSpPr>
        <p:spPr>
          <a:xfrm rot="845031">
            <a:off x="1587066" y="3270838"/>
            <a:ext cx="2369330" cy="6580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AD64516-B304-151F-E018-3261B81694DB}"/>
              </a:ext>
            </a:extLst>
          </p:cNvPr>
          <p:cNvGrpSpPr/>
          <p:nvPr/>
        </p:nvGrpSpPr>
        <p:grpSpPr>
          <a:xfrm>
            <a:off x="546777" y="2102233"/>
            <a:ext cx="1844441" cy="628448"/>
            <a:chOff x="5838606" y="4890639"/>
            <a:chExt cx="1844441" cy="62844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2FE1A60-9B67-4D0B-88D0-4A3D7E4A6AF4}"/>
                </a:ext>
              </a:extLst>
            </p:cNvPr>
            <p:cNvSpPr/>
            <p:nvPr/>
          </p:nvSpPr>
          <p:spPr>
            <a:xfrm>
              <a:off x="5838606" y="4890639"/>
              <a:ext cx="1844441" cy="62844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Textfeld 3">
              <a:extLst>
                <a:ext uri="{FF2B5EF4-FFF2-40B4-BE49-F238E27FC236}">
                  <a16:creationId xmlns:a16="http://schemas.microsoft.com/office/drawing/2014/main" id="{F65D5FD0-2482-6F73-9FCB-3C8B466C0197}"/>
                </a:ext>
              </a:extLst>
            </p:cNvPr>
            <p:cNvSpPr txBox="1"/>
            <p:nvPr/>
          </p:nvSpPr>
          <p:spPr>
            <a:xfrm>
              <a:off x="5883047" y="5113598"/>
              <a:ext cx="180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 err="1">
                  <a:cs typeface="Arial" panose="020B0604020202020204" pitchFamily="34" charset="0"/>
                </a:rPr>
                <a:t>special</a:t>
              </a:r>
              <a:r>
                <a:rPr lang="de-DE" sz="1000" dirty="0">
                  <a:cs typeface="Arial" panose="020B0604020202020204" pitchFamily="34" charset="0"/>
                </a:rPr>
                <a:t> </a:t>
              </a:r>
              <a:r>
                <a:rPr lang="de-DE" sz="1000" dirty="0" err="1">
                  <a:cs typeface="Arial" panose="020B0604020202020204" pitchFamily="34" charset="0"/>
                </a:rPr>
                <a:t>purpose</a:t>
              </a:r>
              <a:r>
                <a:rPr lang="de-DE" sz="1000" dirty="0">
                  <a:cs typeface="Arial" panose="020B0604020202020204" pitchFamily="34" charset="0"/>
                </a:rPr>
                <a:t> </a:t>
              </a:r>
              <a:r>
                <a:rPr lang="de-DE" sz="1000" dirty="0" err="1">
                  <a:cs typeface="Arial" panose="020B0604020202020204" pitchFamily="34" charset="0"/>
                </a:rPr>
                <a:t>fibre</a:t>
              </a:r>
              <a:r>
                <a:rPr lang="de-DE" sz="1000" dirty="0">
                  <a:cs typeface="Arial" panose="020B0604020202020204" pitchFamily="34" charset="0"/>
                </a:rPr>
                <a:t> </a:t>
              </a:r>
              <a:r>
                <a:rPr lang="de-DE" sz="1000" dirty="0" err="1">
                  <a:cs typeface="Arial" panose="020B0604020202020204" pitchFamily="34" charset="0"/>
                </a:rPr>
                <a:t>cable</a:t>
              </a:r>
              <a:r>
                <a:rPr lang="de-DE" sz="1000" dirty="0">
                  <a:cs typeface="Arial" panose="020B0604020202020204" pitchFamily="34" charset="0"/>
                </a:rPr>
                <a:t> </a:t>
              </a:r>
              <a:r>
                <a:rPr lang="de-DE" sz="1000" dirty="0" err="1">
                  <a:cs typeface="Arial" panose="020B0604020202020204" pitchFamily="34" charset="0"/>
                </a:rPr>
                <a:t>technology</a:t>
              </a:r>
              <a:endParaRPr lang="de-DE" sz="1000" dirty="0">
                <a:cs typeface="Arial" panose="020B0604020202020204" pitchFamily="34" charset="0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FC85A08-107D-C038-9F96-27B77C32D97C}"/>
              </a:ext>
            </a:extLst>
          </p:cNvPr>
          <p:cNvSpPr txBox="1"/>
          <p:nvPr/>
        </p:nvSpPr>
        <p:spPr>
          <a:xfrm>
            <a:off x="1244607" y="3054810"/>
            <a:ext cx="170742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Subsea infrastructure with fiber optic cable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4CDA07F-FCF5-4249-3070-E785269C37D9}"/>
              </a:ext>
            </a:extLst>
          </p:cNvPr>
          <p:cNvSpPr/>
          <p:nvPr/>
        </p:nvSpPr>
        <p:spPr>
          <a:xfrm>
            <a:off x="5716669" y="2454947"/>
            <a:ext cx="801293" cy="246221"/>
          </a:xfrm>
          <a:prstGeom prst="rightArrow">
            <a:avLst/>
          </a:prstGeom>
          <a:solidFill>
            <a:srgbClr val="26CCE2"/>
          </a:solidFill>
          <a:ln>
            <a:solidFill>
              <a:srgbClr val="26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603EB7E-FF3A-1A68-5A78-00DAD5BF1306}"/>
              </a:ext>
            </a:extLst>
          </p:cNvPr>
          <p:cNvSpPr/>
          <p:nvPr/>
        </p:nvSpPr>
        <p:spPr>
          <a:xfrm>
            <a:off x="5554549" y="5332199"/>
            <a:ext cx="799536" cy="246221"/>
          </a:xfrm>
          <a:prstGeom prst="rightArrow">
            <a:avLst/>
          </a:prstGeom>
          <a:solidFill>
            <a:srgbClr val="26CCE2"/>
          </a:solidFill>
          <a:ln>
            <a:solidFill>
              <a:srgbClr val="26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3DB2B6-B313-23F6-423E-7C9227EEBA43}"/>
              </a:ext>
            </a:extLst>
          </p:cNvPr>
          <p:cNvSpPr txBox="1"/>
          <p:nvPr/>
        </p:nvSpPr>
        <p:spPr>
          <a:xfrm>
            <a:off x="5375468" y="2802013"/>
            <a:ext cx="176926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real-time DAS data: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strain rate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spectral energy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higher level information</a:t>
            </a:r>
          </a:p>
          <a:p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024645-F999-E662-DDD3-B6B8B866ACA9}"/>
              </a:ext>
            </a:extLst>
          </p:cNvPr>
          <p:cNvSpPr txBox="1"/>
          <p:nvPr/>
        </p:nvSpPr>
        <p:spPr>
          <a:xfrm>
            <a:off x="7601334" y="2756748"/>
            <a:ext cx="1544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real-time predictive analysis: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classification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identification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tracking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behavior analysis &amp; prediction</a:t>
            </a:r>
          </a:p>
          <a:p>
            <a:endParaRPr lang="en-US" sz="1050" dirty="0"/>
          </a:p>
        </p:txBody>
      </p:sp>
      <p:pic>
        <p:nvPicPr>
          <p:cNvPr id="22" name="Graphic 21" descr="Database outline">
            <a:extLst>
              <a:ext uri="{FF2B5EF4-FFF2-40B4-BE49-F238E27FC236}">
                <a16:creationId xmlns:a16="http://schemas.microsoft.com/office/drawing/2014/main" id="{C9B07350-B9AD-CD6E-3E78-47505804A3EA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775901" y="3406618"/>
            <a:ext cx="720000" cy="72000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067CF354-9539-206C-8A87-A1EE7FEDF458}"/>
              </a:ext>
            </a:extLst>
          </p:cNvPr>
          <p:cNvSpPr/>
          <p:nvPr/>
        </p:nvSpPr>
        <p:spPr>
          <a:xfrm rot="5400000">
            <a:off x="6954544" y="3090402"/>
            <a:ext cx="365017" cy="246221"/>
          </a:xfrm>
          <a:prstGeom prst="rightArrow">
            <a:avLst/>
          </a:prstGeom>
          <a:solidFill>
            <a:srgbClr val="26CCE2"/>
          </a:solidFill>
          <a:ln>
            <a:solidFill>
              <a:srgbClr val="26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0B2707-0FEF-8294-E0B1-65D2AD02C968}"/>
              </a:ext>
            </a:extLst>
          </p:cNvPr>
          <p:cNvSpPr txBox="1"/>
          <p:nvPr/>
        </p:nvSpPr>
        <p:spPr>
          <a:xfrm>
            <a:off x="5770899" y="3766618"/>
            <a:ext cx="1373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Data Storage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587E24-1986-5888-9CD6-2D9CD5CC1BA8}"/>
              </a:ext>
            </a:extLst>
          </p:cNvPr>
          <p:cNvSpPr txBox="1"/>
          <p:nvPr/>
        </p:nvSpPr>
        <p:spPr>
          <a:xfrm>
            <a:off x="9179972" y="3008325"/>
            <a:ext cx="1696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User Interface for Operators and Authorities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5564ADD-2FBE-EFA6-20F5-3A3613ECEACB}"/>
              </a:ext>
            </a:extLst>
          </p:cNvPr>
          <p:cNvCxnSpPr>
            <a:cxnSpLocks/>
            <a:stCxn id="103" idx="3"/>
            <a:endCxn id="79" idx="0"/>
          </p:cNvCxnSpPr>
          <p:nvPr/>
        </p:nvCxnSpPr>
        <p:spPr>
          <a:xfrm>
            <a:off x="9302524" y="592244"/>
            <a:ext cx="648884" cy="93197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1" name="Graphic 40" descr="Wi-Fi outline">
            <a:extLst>
              <a:ext uri="{FF2B5EF4-FFF2-40B4-BE49-F238E27FC236}">
                <a16:creationId xmlns:a16="http://schemas.microsoft.com/office/drawing/2014/main" id="{51EBD861-A471-699B-0008-2AD16AC0CC8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9844882">
            <a:off x="3094209" y="2443301"/>
            <a:ext cx="461337" cy="461337"/>
          </a:xfrm>
          <a:prstGeom prst="rect">
            <a:avLst/>
          </a:prstGeom>
        </p:spPr>
      </p:pic>
      <p:pic>
        <p:nvPicPr>
          <p:cNvPr id="49" name="Graphic 48" descr="Police female with solid fill">
            <a:extLst>
              <a:ext uri="{FF2B5EF4-FFF2-40B4-BE49-F238E27FC236}">
                <a16:creationId xmlns:a16="http://schemas.microsoft.com/office/drawing/2014/main" id="{1FF74F2C-2595-AE75-2822-E8DA840533B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793973" y="2566401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6820D875-C93B-3CF0-7D22-8B1D1F9665E6}"/>
              </a:ext>
            </a:extLst>
          </p:cNvPr>
          <p:cNvGrpSpPr/>
          <p:nvPr/>
        </p:nvGrpSpPr>
        <p:grpSpPr>
          <a:xfrm>
            <a:off x="6293478" y="4431909"/>
            <a:ext cx="1844441" cy="635454"/>
            <a:chOff x="9843596" y="174998"/>
            <a:chExt cx="1844441" cy="635454"/>
          </a:xfrm>
        </p:grpSpPr>
        <p:pic>
          <p:nvPicPr>
            <p:cNvPr id="64" name="Picture 63" descr="A close-up of a logo&#10;&#10;Description automatically generated">
              <a:extLst>
                <a:ext uri="{FF2B5EF4-FFF2-40B4-BE49-F238E27FC236}">
                  <a16:creationId xmlns:a16="http://schemas.microsoft.com/office/drawing/2014/main" id="{362E458B-F0A8-3226-07EC-857FA03BA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3866" y="224745"/>
              <a:ext cx="1072895" cy="360000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45B651D-5FAF-2AE0-62E9-8E2F0D3AFB3F}"/>
                </a:ext>
              </a:extLst>
            </p:cNvPr>
            <p:cNvSpPr/>
            <p:nvPr/>
          </p:nvSpPr>
          <p:spPr>
            <a:xfrm>
              <a:off x="9843596" y="174998"/>
              <a:ext cx="1844441" cy="628448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Textfeld 3">
              <a:extLst>
                <a:ext uri="{FF2B5EF4-FFF2-40B4-BE49-F238E27FC236}">
                  <a16:creationId xmlns:a16="http://schemas.microsoft.com/office/drawing/2014/main" id="{8D96E1BB-349A-D8A7-2893-DE73B63DDEDD}"/>
                </a:ext>
              </a:extLst>
            </p:cNvPr>
            <p:cNvSpPr txBox="1"/>
            <p:nvPr/>
          </p:nvSpPr>
          <p:spPr>
            <a:xfrm>
              <a:off x="9853121" y="548842"/>
              <a:ext cx="180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dirty="0">
                  <a:cs typeface="Arial" panose="020B0604020202020204" pitchFamily="34" charset="0"/>
                </a:rPr>
                <a:t>Ocean Technology Cluster 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70D6E7F-0BBD-9E83-B6E2-1F1FEB3DAF23}"/>
              </a:ext>
            </a:extLst>
          </p:cNvPr>
          <p:cNvSpPr txBox="1"/>
          <p:nvPr/>
        </p:nvSpPr>
        <p:spPr>
          <a:xfrm>
            <a:off x="9210570" y="371349"/>
            <a:ext cx="833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fusion</a:t>
            </a:r>
          </a:p>
          <a:p>
            <a:endParaRPr 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D6173D-27DF-C594-D656-DEA11E80B99B}"/>
              </a:ext>
            </a:extLst>
          </p:cNvPr>
          <p:cNvSpPr txBox="1"/>
          <p:nvPr/>
        </p:nvSpPr>
        <p:spPr>
          <a:xfrm>
            <a:off x="7080426" y="375750"/>
            <a:ext cx="955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training data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B26E50-AB55-F9D3-9F03-27918B5EA01F}"/>
              </a:ext>
            </a:extLst>
          </p:cNvPr>
          <p:cNvGrpSpPr/>
          <p:nvPr/>
        </p:nvGrpSpPr>
        <p:grpSpPr>
          <a:xfrm>
            <a:off x="3531130" y="5307010"/>
            <a:ext cx="1938460" cy="1008000"/>
            <a:chOff x="5543852" y="4523701"/>
            <a:chExt cx="1938460" cy="1008000"/>
          </a:xfrm>
        </p:grpSpPr>
        <p:pic>
          <p:nvPicPr>
            <p:cNvPr id="4" name="Picture 8" descr="Logo_ PLOCAN_ 250x130 - APPA Renovables">
              <a:extLst>
                <a:ext uri="{FF2B5EF4-FFF2-40B4-BE49-F238E27FC236}">
                  <a16:creationId xmlns:a16="http://schemas.microsoft.com/office/drawing/2014/main" id="{54FCABE9-9753-E36A-6350-8B53F91AE7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3852" y="4523701"/>
              <a:ext cx="1938460" cy="10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6D227C2-114A-05BB-A6CD-9D64366CC810}"/>
                </a:ext>
              </a:extLst>
            </p:cNvPr>
            <p:cNvSpPr/>
            <p:nvPr/>
          </p:nvSpPr>
          <p:spPr>
            <a:xfrm>
              <a:off x="5580618" y="4707384"/>
              <a:ext cx="1844441" cy="628448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85EE013-38BF-9EA6-33C6-876C88967C54}"/>
              </a:ext>
            </a:extLst>
          </p:cNvPr>
          <p:cNvGrpSpPr/>
          <p:nvPr/>
        </p:nvGrpSpPr>
        <p:grpSpPr>
          <a:xfrm>
            <a:off x="3576459" y="4826862"/>
            <a:ext cx="1844441" cy="628448"/>
            <a:chOff x="3540076" y="5209019"/>
            <a:chExt cx="1844441" cy="628448"/>
          </a:xfrm>
        </p:grpSpPr>
        <p:pic>
          <p:nvPicPr>
            <p:cNvPr id="50" name="Picture 2" descr="Canalink">
              <a:extLst>
                <a:ext uri="{FF2B5EF4-FFF2-40B4-BE49-F238E27FC236}">
                  <a16:creationId xmlns:a16="http://schemas.microsoft.com/office/drawing/2014/main" id="{A3D4D429-10A9-9CED-C399-39E96E9FA3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3138" y="5396873"/>
              <a:ext cx="1278316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643D8C84-4F0C-74D6-2D61-5CAE683ADDA0}"/>
                </a:ext>
              </a:extLst>
            </p:cNvPr>
            <p:cNvSpPr/>
            <p:nvPr/>
          </p:nvSpPr>
          <p:spPr>
            <a:xfrm>
              <a:off x="3540076" y="5209019"/>
              <a:ext cx="1844441" cy="628448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BD0F9F-1736-EB78-0729-5DF1DB54C5DE}"/>
              </a:ext>
            </a:extLst>
          </p:cNvPr>
          <p:cNvSpPr/>
          <p:nvPr/>
        </p:nvSpPr>
        <p:spPr>
          <a:xfrm>
            <a:off x="8958202" y="4602755"/>
            <a:ext cx="1224467" cy="110973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feld 3">
            <a:extLst>
              <a:ext uri="{FF2B5EF4-FFF2-40B4-BE49-F238E27FC236}">
                <a16:creationId xmlns:a16="http://schemas.microsoft.com/office/drawing/2014/main" id="{5B73E1EB-ED4B-9A27-FBDB-5D1A95AFEFDE}"/>
              </a:ext>
            </a:extLst>
          </p:cNvPr>
          <p:cNvSpPr txBox="1"/>
          <p:nvPr/>
        </p:nvSpPr>
        <p:spPr>
          <a:xfrm>
            <a:off x="8658386" y="4341145"/>
            <a:ext cx="18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cs typeface="Arial" panose="020B0604020202020204" pitchFamily="34" charset="0"/>
              </a:rPr>
              <a:t>Authorities</a:t>
            </a:r>
            <a:endParaRPr lang="de-DE" sz="1000" dirty="0">
              <a:cs typeface="Arial" panose="020B060402020202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93C97DD-17A5-6140-B40E-D4C39EA0B8BE}"/>
              </a:ext>
            </a:extLst>
          </p:cNvPr>
          <p:cNvSpPr/>
          <p:nvPr/>
        </p:nvSpPr>
        <p:spPr>
          <a:xfrm>
            <a:off x="8924913" y="5741916"/>
            <a:ext cx="2123031" cy="628448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2" descr="Home - NBG Fiber Optics">
            <a:extLst>
              <a:ext uri="{FF2B5EF4-FFF2-40B4-BE49-F238E27FC236}">
                <a16:creationId xmlns:a16="http://schemas.microsoft.com/office/drawing/2014/main" id="{E6020457-0A57-AED0-20A4-D75967B53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79" y="2143120"/>
            <a:ext cx="10125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E893F5C9-D24D-DCCF-6F0E-8872447F630F}"/>
              </a:ext>
            </a:extLst>
          </p:cNvPr>
          <p:cNvSpPr txBox="1"/>
          <p:nvPr/>
        </p:nvSpPr>
        <p:spPr>
          <a:xfrm>
            <a:off x="6303003" y="5915528"/>
            <a:ext cx="1872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Requirements Analysis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Workshops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Dissemination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Training</a:t>
            </a:r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3A3D2B4A-3853-9BA6-B8C7-4D0E40121000}"/>
              </a:ext>
            </a:extLst>
          </p:cNvPr>
          <p:cNvSpPr/>
          <p:nvPr/>
        </p:nvSpPr>
        <p:spPr>
          <a:xfrm rot="10800000">
            <a:off x="8021669" y="5339076"/>
            <a:ext cx="799536" cy="246221"/>
          </a:xfrm>
          <a:prstGeom prst="rightArrow">
            <a:avLst/>
          </a:prstGeom>
          <a:solidFill>
            <a:srgbClr val="26CCE2"/>
          </a:solidFill>
          <a:ln>
            <a:solidFill>
              <a:srgbClr val="26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FF4CCA64-63C2-51C5-D212-FBE825C96FBF}"/>
              </a:ext>
            </a:extLst>
          </p:cNvPr>
          <p:cNvSpPr/>
          <p:nvPr/>
        </p:nvSpPr>
        <p:spPr>
          <a:xfrm>
            <a:off x="7803539" y="2451525"/>
            <a:ext cx="799536" cy="246221"/>
          </a:xfrm>
          <a:prstGeom prst="rightArrow">
            <a:avLst/>
          </a:prstGeom>
          <a:solidFill>
            <a:srgbClr val="26CCE2"/>
          </a:solidFill>
          <a:ln>
            <a:solidFill>
              <a:srgbClr val="26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feld 3">
            <a:extLst>
              <a:ext uri="{FF2B5EF4-FFF2-40B4-BE49-F238E27FC236}">
                <a16:creationId xmlns:a16="http://schemas.microsoft.com/office/drawing/2014/main" id="{3D68FEDB-8A2C-B91F-981C-0433E577547F}"/>
              </a:ext>
            </a:extLst>
          </p:cNvPr>
          <p:cNvSpPr txBox="1"/>
          <p:nvPr/>
        </p:nvSpPr>
        <p:spPr>
          <a:xfrm>
            <a:off x="3589010" y="4594830"/>
            <a:ext cx="18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cs typeface="Arial" panose="020B0604020202020204" pitchFamily="34" charset="0"/>
              </a:rPr>
              <a:t>Operators</a:t>
            </a:r>
            <a:endParaRPr lang="de-DE" sz="1000" dirty="0">
              <a:cs typeface="Arial" panose="020B0604020202020204" pitchFamily="34" charset="0"/>
            </a:endParaRPr>
          </a:p>
        </p:txBody>
      </p:sp>
      <p:grpSp>
        <p:nvGrpSpPr>
          <p:cNvPr id="2068" name="Group 2067">
            <a:extLst>
              <a:ext uri="{FF2B5EF4-FFF2-40B4-BE49-F238E27FC236}">
                <a16:creationId xmlns:a16="http://schemas.microsoft.com/office/drawing/2014/main" id="{A4529A67-A956-8C02-818E-F3BD75FAF5C0}"/>
              </a:ext>
            </a:extLst>
          </p:cNvPr>
          <p:cNvGrpSpPr/>
          <p:nvPr/>
        </p:nvGrpSpPr>
        <p:grpSpPr>
          <a:xfrm>
            <a:off x="6492591" y="5072829"/>
            <a:ext cx="1387516" cy="932319"/>
            <a:chOff x="852642" y="4634965"/>
            <a:chExt cx="1387516" cy="932319"/>
          </a:xfrm>
        </p:grpSpPr>
        <p:grpSp>
          <p:nvGrpSpPr>
            <p:cNvPr id="2057" name="Group 2056">
              <a:extLst>
                <a:ext uri="{FF2B5EF4-FFF2-40B4-BE49-F238E27FC236}">
                  <a16:creationId xmlns:a16="http://schemas.microsoft.com/office/drawing/2014/main" id="{8E7A6C15-D8C4-730E-CE06-282C9D8C4A8D}"/>
                </a:ext>
              </a:extLst>
            </p:cNvPr>
            <p:cNvGrpSpPr/>
            <p:nvPr/>
          </p:nvGrpSpPr>
          <p:grpSpPr>
            <a:xfrm>
              <a:off x="852642" y="4788924"/>
              <a:ext cx="765020" cy="778360"/>
              <a:chOff x="2926449" y="5732205"/>
              <a:chExt cx="765020" cy="778360"/>
            </a:xfrm>
          </p:grpSpPr>
          <p:sp>
            <p:nvSpPr>
              <p:cNvPr id="2060" name="Rectangle 2059">
                <a:extLst>
                  <a:ext uri="{FF2B5EF4-FFF2-40B4-BE49-F238E27FC236}">
                    <a16:creationId xmlns:a16="http://schemas.microsoft.com/office/drawing/2014/main" id="{2F8B421B-9940-4149-0C76-DAF7E4E168EF}"/>
                  </a:ext>
                </a:extLst>
              </p:cNvPr>
              <p:cNvSpPr/>
              <p:nvPr/>
            </p:nvSpPr>
            <p:spPr>
              <a:xfrm>
                <a:off x="2929762" y="5832530"/>
                <a:ext cx="761707" cy="6780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61" name="Graphic 2060" descr="Meeting with solid fill">
                <a:extLst>
                  <a:ext uri="{FF2B5EF4-FFF2-40B4-BE49-F238E27FC236}">
                    <a16:creationId xmlns:a16="http://schemas.microsoft.com/office/drawing/2014/main" id="{D4F33B21-6716-D4A9-50B2-712505154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2926449" y="5732205"/>
                <a:ext cx="746169" cy="746169"/>
              </a:xfrm>
              <a:prstGeom prst="rect">
                <a:avLst/>
              </a:prstGeom>
            </p:spPr>
          </p:pic>
        </p:grpSp>
        <p:pic>
          <p:nvPicPr>
            <p:cNvPr id="2058" name="Graphic 2057" descr="Clipboard Mixed outline">
              <a:extLst>
                <a:ext uri="{FF2B5EF4-FFF2-40B4-BE49-F238E27FC236}">
                  <a16:creationId xmlns:a16="http://schemas.microsoft.com/office/drawing/2014/main" id="{41F9CDC4-B113-160F-5482-468557015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539521" y="4903189"/>
              <a:ext cx="432000" cy="432000"/>
            </a:xfrm>
            <a:prstGeom prst="rect">
              <a:avLst/>
            </a:prstGeom>
          </p:spPr>
        </p:pic>
        <p:pic>
          <p:nvPicPr>
            <p:cNvPr id="2063" name="Graphic 2062" descr="Chat outline">
              <a:extLst>
                <a:ext uri="{FF2B5EF4-FFF2-40B4-BE49-F238E27FC236}">
                  <a16:creationId xmlns:a16="http://schemas.microsoft.com/office/drawing/2014/main" id="{65CD1C2F-2297-A457-0560-8E116D61F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1074756" y="4634965"/>
              <a:ext cx="360000" cy="360000"/>
            </a:xfrm>
            <a:prstGeom prst="rect">
              <a:avLst/>
            </a:prstGeom>
          </p:spPr>
        </p:pic>
        <p:pic>
          <p:nvPicPr>
            <p:cNvPr id="2067" name="Graphic 2066" descr="Document outline">
              <a:extLst>
                <a:ext uri="{FF2B5EF4-FFF2-40B4-BE49-F238E27FC236}">
                  <a16:creationId xmlns:a16="http://schemas.microsoft.com/office/drawing/2014/main" id="{D001843B-3212-6191-706F-6F6F6B56C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1844158" y="4936329"/>
              <a:ext cx="396000" cy="396000"/>
            </a:xfrm>
            <a:prstGeom prst="rect">
              <a:avLst/>
            </a:prstGeom>
          </p:spPr>
        </p:pic>
      </p:grpSp>
      <p:pic>
        <p:nvPicPr>
          <p:cNvPr id="2071" name="Picture 2070" descr="A blue and white shield with a bird and text&#10;&#10;Description automatically generated">
            <a:extLst>
              <a:ext uri="{FF2B5EF4-FFF2-40B4-BE49-F238E27FC236}">
                <a16:creationId xmlns:a16="http://schemas.microsoft.com/office/drawing/2014/main" id="{92728BB7-2035-3CFD-95FF-2ADEAB58025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870" y="4735373"/>
            <a:ext cx="1076087" cy="900000"/>
          </a:xfrm>
          <a:prstGeom prst="rect">
            <a:avLst/>
          </a:prstGeom>
        </p:spPr>
      </p:pic>
      <p:sp>
        <p:nvSpPr>
          <p:cNvPr id="2072" name="Rectangle 2071">
            <a:extLst>
              <a:ext uri="{FF2B5EF4-FFF2-40B4-BE49-F238E27FC236}">
                <a16:creationId xmlns:a16="http://schemas.microsoft.com/office/drawing/2014/main" id="{C860B028-B9E3-1089-491E-3BC84D88F178}"/>
              </a:ext>
            </a:extLst>
          </p:cNvPr>
          <p:cNvSpPr/>
          <p:nvPr/>
        </p:nvSpPr>
        <p:spPr>
          <a:xfrm rot="845031">
            <a:off x="591754" y="3992941"/>
            <a:ext cx="2369330" cy="6580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2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F50117-FC00-7383-40BE-75C5A51B4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094028"/>
              </p:ext>
            </p:extLst>
          </p:nvPr>
        </p:nvGraphicFramePr>
        <p:xfrm>
          <a:off x="207032" y="174895"/>
          <a:ext cx="11777935" cy="49377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4224">
                  <a:extLst>
                    <a:ext uri="{9D8B030D-6E8A-4147-A177-3AD203B41FA5}">
                      <a16:colId xmlns:a16="http://schemas.microsoft.com/office/drawing/2014/main" val="2623605440"/>
                    </a:ext>
                  </a:extLst>
                </a:gridCol>
                <a:gridCol w="2854477">
                  <a:extLst>
                    <a:ext uri="{9D8B030D-6E8A-4147-A177-3AD203B41FA5}">
                      <a16:colId xmlns:a16="http://schemas.microsoft.com/office/drawing/2014/main" val="1690768612"/>
                    </a:ext>
                  </a:extLst>
                </a:gridCol>
                <a:gridCol w="1016930">
                  <a:extLst>
                    <a:ext uri="{9D8B030D-6E8A-4147-A177-3AD203B41FA5}">
                      <a16:colId xmlns:a16="http://schemas.microsoft.com/office/drawing/2014/main" val="924784373"/>
                    </a:ext>
                  </a:extLst>
                </a:gridCol>
                <a:gridCol w="1515291">
                  <a:extLst>
                    <a:ext uri="{9D8B030D-6E8A-4147-A177-3AD203B41FA5}">
                      <a16:colId xmlns:a16="http://schemas.microsoft.com/office/drawing/2014/main" val="2478687081"/>
                    </a:ext>
                  </a:extLst>
                </a:gridCol>
                <a:gridCol w="966652">
                  <a:extLst>
                    <a:ext uri="{9D8B030D-6E8A-4147-A177-3AD203B41FA5}">
                      <a16:colId xmlns:a16="http://schemas.microsoft.com/office/drawing/2014/main" val="193033908"/>
                    </a:ext>
                  </a:extLst>
                </a:gridCol>
                <a:gridCol w="1848189">
                  <a:extLst>
                    <a:ext uri="{9D8B030D-6E8A-4147-A177-3AD203B41FA5}">
                      <a16:colId xmlns:a16="http://schemas.microsoft.com/office/drawing/2014/main" val="9165407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097582659"/>
                    </a:ext>
                  </a:extLst>
                </a:gridCol>
                <a:gridCol w="1088572">
                  <a:extLst>
                    <a:ext uri="{9D8B030D-6E8A-4147-A177-3AD203B41FA5}">
                      <a16:colId xmlns:a16="http://schemas.microsoft.com/office/drawing/2014/main" val="2308483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1" u="none" strike="noStrike" dirty="0">
                          <a:effectLst/>
                        </a:rPr>
                        <a:t>ID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Use Case/Threat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Likelihood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Severity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Risk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Intervention</a:t>
                      </a:r>
                      <a:br>
                        <a:rPr lang="en-US" sz="1300" b="1" u="none" strike="noStrike" dirty="0">
                          <a:effectLst/>
                        </a:rPr>
                      </a:br>
                      <a:r>
                        <a:rPr lang="en-US" sz="1300" b="1" u="none" strike="noStrike" dirty="0">
                          <a:effectLst/>
                        </a:rPr>
                        <a:t>(if early warning)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Intervention Type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Collection of Evidence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78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NATURAL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13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Seismic activity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Medium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No direct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Long term changes in design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Useless****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543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Submarine landslide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Medium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No direct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Long term changes in design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Useless****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60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Submarine current drag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High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No direct intervention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Long term changes in design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Useless****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759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Shark/other animal bite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Possible/</a:t>
                      </a:r>
                      <a:r>
                        <a:rPr lang="en-US" sz="1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ex-post!</a:t>
                      </a:r>
                      <a:endParaRPr lang="en-US" sz="13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Alert to O&amp;M team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Useful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87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Degradation of cable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High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High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Possible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Alert to O&amp;M team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Useful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HUMAN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50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Anchor Drop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High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High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Possible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Radio Call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7279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Trawling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High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 (unburied cable)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High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Possible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Radio Call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684533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Divers work at cable/Sabotage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 (?)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Cable Damage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Unclear (?)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81778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Works on Seafloor/Dredging (Buoys Weights, Excavation, Sand Collection)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Cable Damage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Possible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Radio Call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5653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10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Loitering**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Medium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Espionage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Medium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Possible (?)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502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11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Submarine explosives/Sabotage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Cable Damage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Medium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Possible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Useful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571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12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UAV unmanned sub ROV/Sabotage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Low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Espionage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Medium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Possible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Useful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8005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04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13EA32-C8D8-C51D-C5F8-29B761007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098676"/>
              </p:ext>
            </p:extLst>
          </p:nvPr>
        </p:nvGraphicFramePr>
        <p:xfrm>
          <a:off x="207032" y="174895"/>
          <a:ext cx="11753948" cy="47396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2800">
                  <a:extLst>
                    <a:ext uri="{9D8B030D-6E8A-4147-A177-3AD203B41FA5}">
                      <a16:colId xmlns:a16="http://schemas.microsoft.com/office/drawing/2014/main" val="2623605440"/>
                    </a:ext>
                  </a:extLst>
                </a:gridCol>
                <a:gridCol w="2854800">
                  <a:extLst>
                    <a:ext uri="{9D8B030D-6E8A-4147-A177-3AD203B41FA5}">
                      <a16:colId xmlns:a16="http://schemas.microsoft.com/office/drawing/2014/main" val="1690768612"/>
                    </a:ext>
                  </a:extLst>
                </a:gridCol>
                <a:gridCol w="2603863">
                  <a:extLst>
                    <a:ext uri="{9D8B030D-6E8A-4147-A177-3AD203B41FA5}">
                      <a16:colId xmlns:a16="http://schemas.microsoft.com/office/drawing/2014/main" val="3097582659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2308483920"/>
                    </a:ext>
                  </a:extLst>
                </a:gridCol>
                <a:gridCol w="2789548">
                  <a:extLst>
                    <a:ext uri="{9D8B030D-6E8A-4147-A177-3AD203B41FA5}">
                      <a16:colId xmlns:a16="http://schemas.microsoft.com/office/drawing/2014/main" val="1431407608"/>
                    </a:ext>
                  </a:extLst>
                </a:gridCol>
                <a:gridCol w="1489600">
                  <a:extLst>
                    <a:ext uri="{9D8B030D-6E8A-4147-A177-3AD203B41FA5}">
                      <a16:colId xmlns:a16="http://schemas.microsoft.com/office/drawing/2014/main" val="3638323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1" u="none" strike="noStrike" dirty="0">
                          <a:effectLst/>
                        </a:rPr>
                        <a:t>ID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Use Case/Threat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Intervention Type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Collection of Evidence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Increase of know-how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Impact of DAS System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78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NATURAL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13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Seismic activity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Long term changes in design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Useless****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Investigation and threat knowledge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Know-how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543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Submarine landslide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Long term changes in design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Useless****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Investigation and threat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Know-how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60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Submarine current drag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Long term changes in design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Useless****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Investigation and threat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Know-how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759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Shark/other animal bite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Alert to O&amp;M team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Investigation and threat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Know-how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87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Degradation of cable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Alert to O&amp;M team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Useful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HUMAN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50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Anchor Drop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Radio Call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7279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Trawling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Radio Call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684533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Divers work at cable/Sabotage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81778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Works on Seafloor/Dredging (Buoys Weights, Excavation, Sand Collection)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Radio Call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5653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>
                          <a:effectLst/>
                        </a:rPr>
                        <a:t>10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Loitering**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Useful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502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11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Submarine explosives/Sabotage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Useful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571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u="none" strike="noStrike" dirty="0">
                          <a:effectLst/>
                        </a:rPr>
                        <a:t>12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UAV unmanned sub ROV/Sabotage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Coast Guard Intervention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Useful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8005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16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13EA32-C8D8-C51D-C5F8-29B761007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454123"/>
              </p:ext>
            </p:extLst>
          </p:nvPr>
        </p:nvGraphicFramePr>
        <p:xfrm>
          <a:off x="207032" y="174895"/>
          <a:ext cx="11754000" cy="51663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060043">
                  <a:extLst>
                    <a:ext uri="{9D8B030D-6E8A-4147-A177-3AD203B41FA5}">
                      <a16:colId xmlns:a16="http://schemas.microsoft.com/office/drawing/2014/main" val="3097582659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30848392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431407608"/>
                    </a:ext>
                  </a:extLst>
                </a:gridCol>
                <a:gridCol w="2550332">
                  <a:extLst>
                    <a:ext uri="{9D8B030D-6E8A-4147-A177-3AD203B41FA5}">
                      <a16:colId xmlns:a16="http://schemas.microsoft.com/office/drawing/2014/main" val="3638323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Name/Title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Description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Reference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Addressed by FOSMARIN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78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13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FIBERSENSE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Feasibility study on using fiber optical cables for maritime situational awareness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543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dirty="0">
                          <a:latin typeface="+mn-lt"/>
                        </a:rPr>
                        <a:t>SUBMERSE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Development of a research instrument using Distributed Acoustic Sensors, State of Polarization, and Polarimeter technologies.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04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system that uses dark fibers within fiber-optic cables to detect maritime traffic near subsea infrastructure like pipelines and cables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651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VIGIMARE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Development, testing, and evaluation of an information sharing environment to enhance security and reduce risks of physical and cyber-attacks on submarine cables and pipelines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759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PUBLICATIONS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50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Toward Detecting Ship Characteristics and Movements using DAS and Machine Learning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DAS Technology and Machine Learning Algorithms to detect ships crossing water surface above an undersea power cable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+mn-lt"/>
                        </a:rPr>
                        <a:t>Malaprade</a:t>
                      </a:r>
                      <a:r>
                        <a:rPr lang="en-US" sz="1100" dirty="0">
                          <a:latin typeface="+mn-lt"/>
                        </a:rPr>
                        <a:t> et al. 2019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0" dirty="0">
                          <a:latin typeface="+mn-lt"/>
                        </a:rPr>
                        <a:t>Speed and Direction Detection for Security and Safety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7279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Distributed acoustic sensing recordings of low-frequency whale calls and ship noise offshore Central Oregon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Wilcock et al.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533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Simultaneous tracking of multiple whales using two fiber-optic cables in the Arctic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+mn-lt"/>
                        </a:rPr>
                        <a:t>Rørstadbotnen</a:t>
                      </a:r>
                      <a:r>
                        <a:rPr lang="en-US" sz="1100" dirty="0">
                          <a:latin typeface="+mn-lt"/>
                        </a:rPr>
                        <a:t> et al.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78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5653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502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571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8005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9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Widescreen</PresentationFormat>
  <Paragraphs>244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Coronel Carmina</dc:creator>
  <cp:lastModifiedBy>Coronel Carmina</cp:lastModifiedBy>
  <cp:revision>85</cp:revision>
  <dcterms:created xsi:type="dcterms:W3CDTF">2024-11-08T11:39:41Z</dcterms:created>
  <dcterms:modified xsi:type="dcterms:W3CDTF">2024-11-11T16:18:20Z</dcterms:modified>
</cp:coreProperties>
</file>